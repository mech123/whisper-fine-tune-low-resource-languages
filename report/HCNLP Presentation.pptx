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7125d0ee4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7125d0ee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57125d0ee4_1_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7125d0ee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7125d0e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57125d0ee4_0_2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ce153a5c_0_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55ce153a5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g355ce153a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5ce153a5c_0_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5ce153a5c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g355ce153a5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5ce153a5c_0_3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55ce153a5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55ce153a5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567c71c68_0_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5567c71c68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5567c71c6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5ce153a5c_3_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55ce153a5c_3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55ce153a5c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567c71c68_0_5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5567c71c68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5567c71c6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684f78724_2_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684f78724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5684f78724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567c71c68_0_7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567c71c68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5567c71c6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567c71c68_0_8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5567c71c68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5567c71c6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567c71c68_0_9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5567c71c68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5567c71c6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567c71c68_2_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5567c71c68_2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5567c71c6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5ce153a5c_0_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5ce153a5c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55ce153a5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516634" y="2766218"/>
            <a:ext cx="11141966" cy="1557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4"/>
              <a:buFont typeface="Arial Rounded"/>
              <a:buNone/>
              <a:defRPr b="1" sz="4804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516634" y="4820187"/>
            <a:ext cx="11141966" cy="101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993"/>
              </a:spcBef>
              <a:spcAft>
                <a:spcPts val="0"/>
              </a:spcAft>
              <a:buSzPts val="3363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2" type="body"/>
          </p:nvPr>
        </p:nvSpPr>
        <p:spPr>
          <a:xfrm>
            <a:off x="516634" y="5881016"/>
            <a:ext cx="11141966" cy="832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993"/>
              </a:spcBef>
              <a:spcAft>
                <a:spcPts val="0"/>
              </a:spcAft>
              <a:buSzPts val="2162"/>
              <a:buNone/>
              <a:defRPr sz="2162">
                <a:solidFill>
                  <a:srgbClr val="BFBFB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SzPts val="1800"/>
              <a:buNone/>
              <a:defRPr/>
            </a:lvl7pPr>
            <a:lvl8pPr indent="-342900" lvl="7" marL="36576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">
  <p:cSld name="Single colum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idx="1" type="body"/>
          </p:nvPr>
        </p:nvSpPr>
        <p:spPr>
          <a:xfrm>
            <a:off x="549156" y="1880526"/>
            <a:ext cx="10983096" cy="486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549155" y="995573"/>
            <a:ext cx="10983096" cy="553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9688512" y="0"/>
            <a:ext cx="777875" cy="22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10466387" y="0"/>
            <a:ext cx="1193800" cy="22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4754562"/>
            <a:ext cx="12192000" cy="2101850"/>
          </a:xfrm>
          <a:prstGeom prst="rect">
            <a:avLst/>
          </a:prstGeom>
          <a:solidFill>
            <a:srgbClr val="0069B3"/>
          </a:solidFill>
          <a:ln cap="flat" cmpd="sng" w="12700">
            <a:solidFill>
              <a:srgbClr val="0073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515937" y="2765425"/>
            <a:ext cx="11142662" cy="155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4"/>
              <a:buFont typeface="Arial Rounded"/>
              <a:buNone/>
              <a:defRPr b="1" i="0" sz="4804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15937" y="4819650"/>
            <a:ext cx="1114266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993"/>
              </a:spcBef>
              <a:spcAft>
                <a:spcPts val="0"/>
              </a:spcAft>
              <a:buClr>
                <a:schemeClr val="dk1"/>
              </a:buClr>
              <a:buSzPts val="3363"/>
              <a:buFont typeface="Arial"/>
              <a:buNone/>
              <a:defRPr b="0" i="0" sz="3363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41"/>
              <a:buFont typeface="Roboto"/>
              <a:buNone/>
              <a:defRPr b="0" i="0" sz="1441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41"/>
              <a:buFont typeface="Arial"/>
              <a:buNone/>
              <a:defRPr b="0" i="0" sz="1441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41"/>
              <a:buFont typeface="Roboto"/>
              <a:buNone/>
              <a:defRPr b="0" i="0" sz="1441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41"/>
              <a:buFont typeface="Arial"/>
              <a:buNone/>
              <a:defRPr b="0" i="0" sz="1441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41"/>
              <a:buFont typeface="Arial"/>
              <a:buNone/>
              <a:defRPr b="0" i="0" sz="1441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41"/>
              <a:buFont typeface="Arial"/>
              <a:buNone/>
              <a:defRPr b="0" i="0" sz="1441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074" lvl="7" marL="36576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787"/>
              <a:buFont typeface="Arial"/>
              <a:buChar char="•"/>
              <a:defRPr b="0" i="0" sz="17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074" lvl="8" marL="4114800" marR="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787"/>
              <a:buFont typeface="Arial"/>
              <a:buChar char="•"/>
              <a:defRPr b="0" i="0" sz="17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33337" t="0"/>
          <a:stretch/>
        </p:blipFill>
        <p:spPr>
          <a:xfrm>
            <a:off x="503237" y="558800"/>
            <a:ext cx="8567737" cy="19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32925" y="341312"/>
            <a:ext cx="2225675" cy="22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515937" y="5908675"/>
            <a:ext cx="1114266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1">
            <a:alphaModFix/>
          </a:blip>
          <a:srcRect b="0" l="0" r="33334" t="0"/>
          <a:stretch/>
        </p:blipFill>
        <p:spPr>
          <a:xfrm>
            <a:off x="549275" y="136525"/>
            <a:ext cx="3022600" cy="6969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3"/>
          <p:cNvCxnSpPr/>
          <p:nvPr/>
        </p:nvCxnSpPr>
        <p:spPr>
          <a:xfrm>
            <a:off x="-11112" y="915987"/>
            <a:ext cx="12215812" cy="0"/>
          </a:xfrm>
          <a:prstGeom prst="straightConnector1">
            <a:avLst/>
          </a:prstGeom>
          <a:noFill/>
          <a:ln cap="flat" cmpd="sng" w="38100">
            <a:solidFill>
              <a:srgbClr val="0073C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10455275" y="0"/>
            <a:ext cx="0" cy="220662"/>
          </a:xfrm>
          <a:prstGeom prst="straightConnector1">
            <a:avLst/>
          </a:prstGeom>
          <a:noFill/>
          <a:ln cap="flat" cmpd="sng" w="19050">
            <a:solidFill>
              <a:srgbClr val="0073C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4275" y="46037"/>
            <a:ext cx="766762" cy="7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9688512" y="0"/>
            <a:ext cx="777875" cy="22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0466387" y="0"/>
            <a:ext cx="1193800" cy="22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www.chatgpt.com" TargetMode="External"/><Relationship Id="rId5" Type="http://schemas.openxmlformats.org/officeDocument/2006/relationships/hyperlink" Target="https://www.chatgpt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www.louisbouchard.ai/whisper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hyperlink" Target="https://www.dailydoseofds.com/understanding-lora-derived-techniques-for-optimal-llm-fine-tuning/" TargetMode="External"/><Relationship Id="rId5" Type="http://schemas.openxmlformats.org/officeDocument/2006/relationships/hyperlink" Target="https://www.dailydoseofds.com/understanding-lora-derived-techniques-for-optimal-llm-fine-tuning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hyperlink" Target="https://chatgpt.com/g/g-p-67cf1b5d2ecc819193e652dc248d300b-hcnlp/projec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abs/1902.00751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esearch.google/blog/specaugment-a-new-data-augmentation-method-for-automatic-speech-recognition/" TargetMode="External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hyperlink" Target="https://github.com/ImonGhosh/whisper-fine-tune-low-resource-language.git" TargetMode="External"/><Relationship Id="rId5" Type="http://schemas.openxmlformats.org/officeDocument/2006/relationships/hyperlink" Target="https://docs.google.com/spreadsheets/d/1G4d3FcaeXsXXvuMnK2tTr_yLnpK8cvFcc5hN9behGeo/edit?gid=0#gid=0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ypi.org/project/pyannote.audio/2.1.1/" TargetMode="External"/><Relationship Id="rId4" Type="http://schemas.openxmlformats.org/officeDocument/2006/relationships/hyperlink" Target="https://pypi.org/project/whisperx/3.1.1/" TargetMode="External"/><Relationship Id="rId5" Type="http://schemas.openxmlformats.org/officeDocument/2006/relationships/hyperlink" Target="https://pypi.org/project/faster-whisper/0.3.0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/>
        </p:nvSpPr>
        <p:spPr>
          <a:xfrm>
            <a:off x="3996225" y="3782725"/>
            <a:ext cx="553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Human-Centered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000" y="4744600"/>
            <a:ext cx="4968000" cy="21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/>
        </p:nvSpPr>
        <p:spPr>
          <a:xfrm>
            <a:off x="423625" y="5251850"/>
            <a:ext cx="40002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Imon Kalyan Ghosh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Veera Raghavulu Bathula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Ishmita Basu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135950" y="2653025"/>
            <a:ext cx="99201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/>
        </p:nvSpPr>
        <p:spPr>
          <a:xfrm>
            <a:off x="2411425" y="2186000"/>
            <a:ext cx="27792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Whisper Architecture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PEFT Methods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6688500" y="2573300"/>
            <a:ext cx="30000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54" name="Google Shape;54;p6"/>
          <p:cNvSpPr txBox="1"/>
          <p:nvPr/>
        </p:nvSpPr>
        <p:spPr>
          <a:xfrm>
            <a:off x="5693850" y="985400"/>
            <a:ext cx="11112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346175" y="1943175"/>
            <a:ext cx="11618700" cy="3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Whisper struggles with low-resource languages like Bengali and Telugu</a:t>
            </a:r>
            <a:b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 languages lack Automatic Speech Recognition support despite growing voice tech demand</a:t>
            </a:r>
            <a:b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 Whisper boosts performance on specific low-resource languages</a:t>
            </a:r>
            <a:b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inclusive speech tech through curated language-specific datasets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5163875" y="886050"/>
            <a:ext cx="19833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5184525" y="950625"/>
            <a:ext cx="2379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513950" y="1634575"/>
            <a:ext cx="11419500" cy="4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73C0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AUTOMATIC SPEECH </a:t>
            </a: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RECOGNITION (ASR) –</a:t>
            </a: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spoken language into written text using algorithms that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interpret audio signals</a:t>
            </a:r>
            <a:br>
              <a:rPr lang="en-US" sz="15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rgbClr val="0073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73C0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PARAMETER EFFICIENT FINE </a:t>
            </a: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TUNING (PEFT) –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technique that adapts large models to new tasks by training only a small subset of parameters, while keeping most of the pre-trained weights frozen</a:t>
            </a:r>
            <a:b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rgbClr val="0073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73C0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WORD ERROR </a:t>
            </a:r>
            <a:r>
              <a:rPr b="1" lang="en-US" sz="1800">
                <a:solidFill>
                  <a:srgbClr val="0073C0"/>
                </a:solidFill>
                <a:latin typeface="Calibri"/>
                <a:ea typeface="Calibri"/>
                <a:cs typeface="Calibri"/>
                <a:sym typeface="Calibri"/>
              </a:rPr>
              <a:t>RATE (WER) –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evaluate the performance of ASR systems. It measures the percentage of words that were incorrectly predicted by comparing the transcribed output with a reference (ground truth) transcription</a:t>
            </a:r>
            <a:b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S (Substitutions)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: Number of words that were </a:t>
            </a: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incorrectly transcribed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D (Deletions)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: Number of </a:t>
            </a: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missing words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in the predicted transcript that were present in the reference.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I (Insertions)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: Number of </a:t>
            </a: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extra words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in the predicted transcript that were not in the reference.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N (Reference words)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Total number of words</a:t>
            </a: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 in the reference transcript.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50" y="4137175"/>
            <a:ext cx="1885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 txBox="1"/>
          <p:nvPr/>
        </p:nvSpPr>
        <p:spPr>
          <a:xfrm>
            <a:off x="9244425" y="65655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://www.chatgpt.com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/>
        </p:nvSpPr>
        <p:spPr>
          <a:xfrm>
            <a:off x="5184525" y="950625"/>
            <a:ext cx="2379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9"/>
          <p:cNvSpPr txBox="1"/>
          <p:nvPr/>
        </p:nvSpPr>
        <p:spPr>
          <a:xfrm>
            <a:off x="513850" y="2233575"/>
            <a:ext cx="114195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ASR progress has largely excluded low-resource languages like Bengali and Telugu due to limited annotated data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PEFT methods—LoRA, Adapter Layers and BitFit along with SpecAugment data augmentation—were used to fine-tune Whisper for these languages with fewer trainable parameters.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Experiments showed reduced WER and improved ASR performance in both languages using limited resources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streamlined training pipeline was built to make low-resource ASR research more accessible and scalable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>
            <a:off x="3857150" y="920750"/>
            <a:ext cx="479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WHISPER ARCHITECTURE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852" y="1822300"/>
            <a:ext cx="5497301" cy="40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>
            <a:off x="9244425" y="65655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https://www.louisbouchard.ai/whisper/</a:t>
            </a:r>
            <a:endParaRPr/>
          </a:p>
        </p:txBody>
      </p:sp>
      <p:sp>
        <p:nvSpPr>
          <p:cNvPr id="93" name="Google Shape;93;p10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/>
        </p:nvSpPr>
        <p:spPr>
          <a:xfrm>
            <a:off x="4932875" y="947275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PEFT METHODS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1"/>
          <p:cNvSpPr txBox="1"/>
          <p:nvPr/>
        </p:nvSpPr>
        <p:spPr>
          <a:xfrm>
            <a:off x="71500" y="1556875"/>
            <a:ext cx="479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LoRA Method Architecture</a:t>
            </a:r>
            <a:endParaRPr sz="1300"/>
          </a:p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624" y="2495924"/>
            <a:ext cx="5534751" cy="3606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>
            <a:off x="9192000" y="631920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https://www.dailydoseofds.com/understanding-lora-derived-techniques-for-optimal-llm-fine-tuning</a:t>
            </a:r>
            <a:r>
              <a:rPr lang="en-US" sz="900" u="sng">
                <a:solidFill>
                  <a:schemeClr val="hlink"/>
                </a:solidFill>
                <a:hlinkClick r:id="rId5"/>
              </a:rPr>
              <a:t>/</a:t>
            </a:r>
            <a:endParaRPr/>
          </a:p>
        </p:txBody>
      </p:sp>
      <p:sp>
        <p:nvSpPr>
          <p:cNvPr id="104" name="Google Shape;104;p11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2"/>
          <p:cNvSpPr txBox="1"/>
          <p:nvPr/>
        </p:nvSpPr>
        <p:spPr>
          <a:xfrm>
            <a:off x="454025" y="1774400"/>
            <a:ext cx="372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BitFit Method Architecture</a:t>
            </a:r>
            <a:endParaRPr sz="1500"/>
          </a:p>
        </p:txBody>
      </p:sp>
      <p:sp>
        <p:nvSpPr>
          <p:cNvPr id="112" name="Google Shape;112;p12"/>
          <p:cNvSpPr txBox="1"/>
          <p:nvPr/>
        </p:nvSpPr>
        <p:spPr>
          <a:xfrm>
            <a:off x="5174050" y="94730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PEFT METHODS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2" title="ChatGPT Image May 9, 2025, 10_43_32 PM.png"/>
          <p:cNvPicPr preferRelativeResize="0"/>
          <p:nvPr/>
        </p:nvPicPr>
        <p:blipFill rotWithShape="1">
          <a:blip r:embed="rId3">
            <a:alphaModFix/>
          </a:blip>
          <a:srcRect b="7864" l="0" r="0" t="15112"/>
          <a:stretch/>
        </p:blipFill>
        <p:spPr>
          <a:xfrm>
            <a:off x="3040813" y="2541350"/>
            <a:ext cx="6595926" cy="338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2"/>
          <p:cNvSpPr txBox="1"/>
          <p:nvPr/>
        </p:nvSpPr>
        <p:spPr>
          <a:xfrm>
            <a:off x="9192000" y="63192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https://chatgpt.com/g/g-p-67cf1b5d2ecc819193e652dc248d300b-hcnlp/project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9049200" y="6088500"/>
            <a:ext cx="314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Parameter-Efficient Transfer Learning for NLP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6049" y="2029963"/>
            <a:ext cx="5173175" cy="35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4890925" y="91285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PEFT METHODS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314575" y="1522450"/>
            <a:ext cx="365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Adapter Layers Architecture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711398" y="6072900"/>
            <a:ext cx="348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lang="en-US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https://research.google/blog/specaugment-a-new-data-augmentation-method-for-automatic-speech-recognition/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463" y="2864825"/>
            <a:ext cx="116490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271475" y="1460300"/>
            <a:ext cx="484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SpecAugment Method Architecture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5079675" y="919150"/>
            <a:ext cx="2379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626400" y="6363925"/>
            <a:ext cx="14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 Diarization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9542525" y="4160225"/>
            <a:ext cx="184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Process Flow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0225" y="5015300"/>
            <a:ext cx="5315800" cy="17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title="ChatGPT Image May 10, 2025, 04_45_05 PM.png"/>
          <p:cNvPicPr preferRelativeResize="0"/>
          <p:nvPr/>
        </p:nvPicPr>
        <p:blipFill rotWithShape="1">
          <a:blip r:embed="rId4">
            <a:alphaModFix/>
          </a:blip>
          <a:srcRect b="29897" l="3637" r="2842" t="7292"/>
          <a:stretch/>
        </p:blipFill>
        <p:spPr>
          <a:xfrm>
            <a:off x="4253604" y="1395250"/>
            <a:ext cx="3429046" cy="3454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/>
        </p:nvSpPr>
        <p:spPr>
          <a:xfrm>
            <a:off x="218475" y="2042072"/>
            <a:ext cx="11650200" cy="4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079675" y="950625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218475" y="1835106"/>
            <a:ext cx="217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1" sz="2000">
              <a:solidFill>
                <a:srgbClr val="0069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600" y="2533451"/>
            <a:ext cx="4057025" cy="40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6789800" y="1835100"/>
            <a:ext cx="279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1" sz="2000">
              <a:solidFill>
                <a:srgbClr val="0069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490400" y="315175"/>
            <a:ext cx="5198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150" y="2327700"/>
            <a:ext cx="3419699" cy="4225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/>
        </p:nvSpPr>
        <p:spPr>
          <a:xfrm>
            <a:off x="229000" y="1709275"/>
            <a:ext cx="30009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Hyperparameter Selection</a:t>
            </a:r>
            <a:b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836925" y="95060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175" y="2412438"/>
            <a:ext cx="710565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4687350" y="220800"/>
            <a:ext cx="5177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774225" y="1612450"/>
            <a:ext cx="1543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658638" y="93995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18" title="ChatGPT Image May 6, 2025, 06_18_58 PM.png"/>
          <p:cNvPicPr preferRelativeResize="0"/>
          <p:nvPr/>
        </p:nvPicPr>
        <p:blipFill rotWithShape="1">
          <a:blip r:embed="rId3">
            <a:alphaModFix/>
          </a:blip>
          <a:srcRect b="0" l="0" r="0" t="2543"/>
          <a:stretch/>
        </p:blipFill>
        <p:spPr>
          <a:xfrm>
            <a:off x="4309775" y="2308475"/>
            <a:ext cx="2473149" cy="36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771300" y="1806400"/>
            <a:ext cx="1543200" cy="272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CLI Command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674800" y="6003550"/>
            <a:ext cx="1732800" cy="462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Save Model to Hugging Face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184" name="Google Shape;184;p18"/>
          <p:cNvCxnSpPr>
            <a:endCxn id="183" idx="0"/>
          </p:cNvCxnSpPr>
          <p:nvPr/>
        </p:nvCxnSpPr>
        <p:spPr>
          <a:xfrm>
            <a:off x="5537600" y="5567950"/>
            <a:ext cx="3600" cy="4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8"/>
          <p:cNvCxnSpPr>
            <a:stCxn id="182" idx="2"/>
            <a:endCxn id="180" idx="0"/>
          </p:cNvCxnSpPr>
          <p:nvPr/>
        </p:nvCxnSpPr>
        <p:spPr>
          <a:xfrm>
            <a:off x="5542900" y="2079100"/>
            <a:ext cx="330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941100" y="2495725"/>
            <a:ext cx="103098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Fine-tuned only the attention projection layers using low-rank adaptation (rank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matrices(r)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=32, scaling factor(α)=64, dropout=0.05)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freezing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other parameters to enable efficient ASR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BitFit: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Enabled training solely on bias parameters by freezing all other model weights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 Layers: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Inserted lightweight adapter modules (64-dim bottleneck with GELU and residuals) into each transformer block, training only the adapter parameters while keeping the Whisper model frozen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 with SpecAugment: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Enhanced LoRA fine-tuning by applying SpecAugment on training data (random time and frequency masking)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226500" y="92965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223700" y="1730250"/>
            <a:ext cx="217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2000">
              <a:solidFill>
                <a:srgbClr val="0069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/>
        </p:nvSpPr>
        <p:spPr>
          <a:xfrm>
            <a:off x="218475" y="1677800"/>
            <a:ext cx="11650200" cy="4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278900" y="94360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8825" y="1553200"/>
            <a:ext cx="301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Results &amp; WER Analysis</a:t>
            </a:r>
            <a:endParaRPr b="1" sz="2000">
              <a:solidFill>
                <a:srgbClr val="0069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6061" y="2045800"/>
            <a:ext cx="6435029" cy="18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1436" y="4238800"/>
            <a:ext cx="6329650" cy="25304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5289400" y="887350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50763" y="1243350"/>
            <a:ext cx="590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Training vs Evaluation Loss Analysis</a:t>
            </a:r>
            <a:endParaRPr b="1" sz="2000">
              <a:solidFill>
                <a:srgbClr val="0069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425" y="1735950"/>
            <a:ext cx="4377724" cy="24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-5130" t="0"/>
          <a:stretch/>
        </p:blipFill>
        <p:spPr>
          <a:xfrm>
            <a:off x="5779150" y="1670950"/>
            <a:ext cx="4507850" cy="23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450" y="4229575"/>
            <a:ext cx="4377724" cy="24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9162" y="4229575"/>
            <a:ext cx="4377724" cy="24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/>
        </p:nvSpPr>
        <p:spPr>
          <a:xfrm>
            <a:off x="419475" y="2474775"/>
            <a:ext cx="11650200" cy="48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216000" y="931625"/>
            <a:ext cx="2727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286600" y="1761700"/>
            <a:ext cx="555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Training Stability and Evaluation Runtime </a:t>
            </a:r>
            <a:r>
              <a:rPr b="1" lang="en-US" sz="2000">
                <a:solidFill>
                  <a:srgbClr val="0069B3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1" sz="2000">
              <a:solidFill>
                <a:srgbClr val="0069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1825" y="2416375"/>
            <a:ext cx="4621794" cy="345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71" y="2325475"/>
            <a:ext cx="6090774" cy="36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/>
        </p:nvSpPr>
        <p:spPr>
          <a:xfrm>
            <a:off x="472050" y="1245225"/>
            <a:ext cx="112479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225525" y="258000"/>
            <a:ext cx="49980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5025" y="1129225"/>
            <a:ext cx="4005485" cy="35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3558463" y="4927100"/>
            <a:ext cx="45786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Repo 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Code Link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Document for Output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943775" y="1797850"/>
            <a:ext cx="7553400" cy="3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Availability for low resource languages  on Hugging Face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 Complexity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 Tuning Compatibility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 Diarization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Dialectal Variation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 Layer Underperformance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920750" y="960575"/>
            <a:ext cx="2350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/>
        </p:nvSpPr>
        <p:spPr>
          <a:xfrm>
            <a:off x="472050" y="1829800"/>
            <a:ext cx="112479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Evaluated LoRA, SpecAugment + LoRA, BitFit, and Adapter Layers on Whisper-small for Bengali and Telugu ASR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 offered the best balance of WER reduction, stability, and efficiency—fine-tuning &lt;3% of parameters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SpecAugment gave slight WER gains for Bengali but added evaluation overhead and was dataset-size dependent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BitFit showed limited improvement due to its low parameter update capacity.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 Layers were affected by unstable training dynamics, leading to poor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4776100" y="948375"/>
            <a:ext cx="2249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/>
        </p:nvSpPr>
        <p:spPr>
          <a:xfrm>
            <a:off x="415000" y="1377463"/>
            <a:ext cx="115917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speaker diarisation using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like PyAnnote and timestamped Whisper models (Whisperx, faster-whisper)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accurate multi-speaker transcription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web-based UI to support audio upload, feature toggles (e.g., diarisation), and easy transcript access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to dialectal ASR via crowdsourced datasets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better coverage of regional variants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real-time, cross-lingual, and multimodal ASR capabilities to enhance transcription flexibility and context awareness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5098450" y="865475"/>
            <a:ext cx="2224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8703575" y="5956225"/>
            <a:ext cx="34887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-</a:t>
            </a:r>
            <a:b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PyAnnote :  </a:t>
            </a:r>
            <a:r>
              <a:rPr lang="en-US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https://pypi.org/project/pyannote.audio/2.1.1/</a:t>
            </a:r>
            <a:b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WhisperX: </a:t>
            </a:r>
            <a:r>
              <a:rPr lang="en-US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https://pypi.org/project/whisperx/3.1.1/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 Whisper: </a:t>
            </a:r>
            <a:r>
              <a:rPr lang="en-US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https://pypi.org/project/faster-whisper/0.3.0/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/>
        </p:nvSpPr>
        <p:spPr>
          <a:xfrm>
            <a:off x="9688512" y="0"/>
            <a:ext cx="777875" cy="22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Rounded"/>
              <a:buNone/>
            </a:pP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7"/>
          <p:cNvSpPr txBox="1"/>
          <p:nvPr>
            <p:ph idx="1" type="body"/>
          </p:nvPr>
        </p:nvSpPr>
        <p:spPr>
          <a:xfrm>
            <a:off x="3038700" y="1959450"/>
            <a:ext cx="6649800" cy="27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</a:endParaRPr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</a:rPr>
              <a:t>Thank</a:t>
            </a:r>
            <a:r>
              <a:rPr b="1" lang="en-US" sz="4800"/>
              <a:t> you</a:t>
            </a:r>
            <a:r>
              <a:rPr b="1" i="0" lang="en-US" sz="4800" u="none" cap="none" strike="noStrike">
                <a:solidFill>
                  <a:schemeClr val="dk1"/>
                </a:solidFill>
              </a:rPr>
              <a:t>!</a:t>
            </a:r>
            <a:endParaRPr sz="4800"/>
          </a:p>
        </p:txBody>
      </p:sp>
      <p:sp>
        <p:nvSpPr>
          <p:cNvPr id="278" name="Google Shape;278;p27"/>
          <p:cNvSpPr txBox="1"/>
          <p:nvPr/>
        </p:nvSpPr>
        <p:spPr>
          <a:xfrm>
            <a:off x="10466387" y="0"/>
            <a:ext cx="1193800" cy="220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 txBox="1"/>
          <p:nvPr>
            <p:ph idx="12" type="sldNum"/>
          </p:nvPr>
        </p:nvSpPr>
        <p:spPr>
          <a:xfrm>
            <a:off x="9688512" y="0"/>
            <a:ext cx="777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3321175" y="220800"/>
            <a:ext cx="6543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LANGUAGE BARRIERS: FINE-TUNING WHISPER FOR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BENGALI AND TELUGU AUTOMATIC SPEECH RECOGNITION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HCAI_Cov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6_HCAI_Content">
  <a:themeElements>
    <a:clrScheme name="Office">
      <a:dk1>
        <a:srgbClr val="272E36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